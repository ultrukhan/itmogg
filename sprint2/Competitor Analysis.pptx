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Outfit"/>
      <p:regular r:id="rId24"/>
      <p:bold r:id="rId25"/>
    </p:embeddedFont>
    <p:embeddedFont>
      <p:font typeface="Outfit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utfi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SemiBold-regular.fntdata"/><Relationship Id="rId25" Type="http://schemas.openxmlformats.org/officeDocument/2006/relationships/font" Target="fonts/Outfit-bold.fntdata"/><Relationship Id="rId27" Type="http://schemas.openxmlformats.org/officeDocument/2006/relationships/font" Target="fonts/Outfi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2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644229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Market &amp; </a:t>
            </a:r>
            <a:r>
              <a:rPr b="1" i="0" lang="en-US" sz="48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Competitor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543300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Evaluating the landscape of household management solutions and identifying our strategic advantage.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735580" y="3185219"/>
            <a:ext cx="67208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Current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Market Landscape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895600" y="3947219"/>
            <a:ext cx="6400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Understanding existing solutions for shared households.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40709"/>
            <a:ext cx="11049000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40209"/>
            <a:ext cx="11049000" cy="493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00100" y="5631209"/>
            <a:ext cx="10629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Core Problem: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market is heavily fragmented. Roommates are forced to use multiple, disconnected applications to manage interconnected household problems, leading to app fatigue and low adoption rates.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8770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Market Fragmentation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866775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Splitwise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866775" y="38814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absolute leader in the niche. Features a powerful debt simplification algorithm and supports complex group categorizations.</a:t>
            </a:r>
            <a:endParaRPr/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46450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Tricount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645074" y="388143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highly popular minimalist service. Excellent for quick balance calculations without unnecessary features. Offline-first approach.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4233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Settle Up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23374" y="38814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Similar core functionality to Splitwise. Differentiates with strong offline synchronization and custom exchange rates for travelers.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7098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5574" y="27098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7674" y="27098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"Finance First" Giants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9797"/>
            <a:ext cx="5286375" cy="39107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9797"/>
            <a:ext cx="5286375" cy="39107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62025" y="234032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Advantages (Pros)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724650" y="234032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Disadvantages (Cons)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7842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7842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304925" y="2864197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Universal Adoption: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standard app everyone already knows.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304925" y="3641377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Robust Algorithm: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Flawless execution of debt simplification across complex group dynamics.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304925" y="4418558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Multi-Group: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Easily handles overlaps (e.g., apartments, trips, couples).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067550" y="2864197"/>
            <a:ext cx="41624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Paid Receipt Scanning: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OCR receipt parsing is locked behind a strict monthly paywall (Pro version).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067550" y="3915667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Zero Chore Management: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Completely ignores the physical aspect of living together.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067550" y="4692848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Mobile Focused: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Lacks a robust, dedicated desktop client for household "terminals".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Deep Dive: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Splitwise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9794"/>
            <a:ext cx="3492549" cy="4430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89794"/>
            <a:ext cx="3492549" cy="4430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89794"/>
            <a:ext cx="3492549" cy="44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94212" y="4461569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Nipto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71525" y="4823519"/>
            <a:ext cx="30924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gamified experience. Users earn points for cleaning, creating competitive leaderboards among roommates.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4472512" y="4461569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Sweepy / Tody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4549824" y="4823519"/>
            <a:ext cx="30924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Focuses on cleaning schedules based on room degradation. Generates daily to-do lists to keep the house tidy.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250811" y="4461569"/>
            <a:ext cx="32471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OurHome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328124" y="4823519"/>
            <a:ext cx="30924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family-oriented organizer with shared grocery lists, a robust chore calendar, and a reward system.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889819"/>
            <a:ext cx="30924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1889819"/>
            <a:ext cx="30924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1889819"/>
            <a:ext cx="30924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"Chore First" Applications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004268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While apps like Nipto and OurHome excel at distributing physical labor, they completely drop the ball when it comes to shared expenses.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4268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914400" y="320025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Primitive Finances: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financial modules exist at all, they are basic ledgers with no debt simplification algorithms.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14400" y="3977431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Dual App Necessity: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Forces the household to rely on a secondary app (like Splitwise) to handle money, causing friction.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14400" y="502890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Lost Context: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Disconnects the act of buying shared goods (groceries) from the act of using them (cooking/cleaning).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Flaw in Chore Applications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485673" y="3162300"/>
            <a:ext cx="52206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Gap in the Market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Our Strategic Position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/>
          <p:nvPr/>
        </p:nvSpPr>
        <p:spPr>
          <a:xfrm>
            <a:off x="1704975" y="2524125"/>
            <a:ext cx="2838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543425" y="2524125"/>
            <a:ext cx="1533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6076950" y="2524125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467600" y="2524125"/>
            <a:ext cx="3019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704975" y="3198465"/>
            <a:ext cx="2838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543425" y="3198465"/>
            <a:ext cx="1533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6076950" y="3198465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467600" y="3198465"/>
            <a:ext cx="3019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704975" y="3872805"/>
            <a:ext cx="2838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543425" y="3872805"/>
            <a:ext cx="1533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6076950" y="3872805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467600" y="3872805"/>
            <a:ext cx="3019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704975" y="4547145"/>
            <a:ext cx="2838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543425" y="4547145"/>
            <a:ext cx="1533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076950" y="4547145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467600" y="4547145"/>
            <a:ext cx="3019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704975" y="5221485"/>
            <a:ext cx="2838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543425" y="5221485"/>
            <a:ext cx="1533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076950" y="5221485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467600" y="5221485"/>
            <a:ext cx="3019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542627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0" y="47519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0175" y="340325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7759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2262" y="340325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407759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27289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47519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1587" y="27289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340325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1587" y="542627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6550" y="475193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407759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05550" y="5426273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72262" y="27289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27289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72262" y="27289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1587" y="27289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0175" y="340325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2262" y="340325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340325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407759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7759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407759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47519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6550" y="475193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0" y="47519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175" y="542627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05550" y="5426273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1587" y="5426273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Competitive Feature Matrix</a:t>
            </a:r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66850" y="1388700"/>
            <a:ext cx="925830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66937"/>
            <a:ext cx="3492549" cy="347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866775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All-in-One Solution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66775" y="38814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solve the two biggest roommate pain points simultaneously. No more app fatigue. One central hub for debts and duties.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46450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Free AI Capabilities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645074" y="38814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utilizing the Gemini API, we offer automated receipt parsing out-of-the-box. A feature competitors lock behind expensive monthly subscriptions.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574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84233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Desktop First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423374" y="38814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as a WPF/Windows Forms application, perfect for a shared dorm PC acting as a central, transparent household terminal.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7098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59374" y="27098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56724" y="27098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Our Competitive Advantages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